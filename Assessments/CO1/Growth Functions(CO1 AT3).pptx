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5" r:id="rId3"/>
  </p:sldMasterIdLst>
  <p:sldIdLst>
    <p:sldId id="256" r:id="rId4"/>
    <p:sldId id="257" r:id="rId5"/>
    <p:sldId id="258" r:id="rId6"/>
    <p:sldId id="271" r:id="rId7"/>
    <p:sldId id="259" r:id="rId8"/>
    <p:sldId id="260" r:id="rId9"/>
    <p:sldId id="272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376" y="-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125800" y="723600"/>
            <a:ext cx="4892040" cy="11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23760" y="1249200"/>
            <a:ext cx="488952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" name="Google Shape;98;p14"/>
          <p:cNvGrpSpPr/>
          <p:nvPr/>
        </p:nvGrpSpPr>
        <p:grpSpPr>
          <a:xfrm>
            <a:off x="-991800" y="-1481400"/>
            <a:ext cx="11997720" cy="8640720"/>
            <a:chOff x="-991800" y="-1481400"/>
            <a:chExt cx="11997720" cy="8640720"/>
          </a:xfrm>
        </p:grpSpPr>
        <p:pic>
          <p:nvPicPr>
            <p:cNvPr id="14" name="Google Shape;99;p14"/>
            <p:cNvPicPr/>
            <p:nvPr/>
          </p:nvPicPr>
          <p:blipFill>
            <a:blip r:embed="rId2">
              <a:alphaModFix amt="61000"/>
            </a:blip>
            <a:stretch/>
          </p:blipFill>
          <p:spPr>
            <a:xfrm rot="1800000">
              <a:off x="6252120" y="4024080"/>
              <a:ext cx="3297600" cy="236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" name="Google Shape;100;p14"/>
            <p:cNvPicPr/>
            <p:nvPr/>
          </p:nvPicPr>
          <p:blipFill>
            <a:blip r:embed="rId3">
              <a:alphaModFix amt="67000"/>
            </a:blip>
            <a:srcRect l="5148" r="5141"/>
            <a:stretch/>
          </p:blipFill>
          <p:spPr>
            <a:xfrm rot="1800000">
              <a:off x="6709680" y="2287440"/>
              <a:ext cx="3453480" cy="4295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" name="Google Shape;101;p14"/>
            <p:cNvPicPr/>
            <p:nvPr/>
          </p:nvPicPr>
          <p:blipFill>
            <a:blip r:embed="rId4"/>
            <a:stretch/>
          </p:blipFill>
          <p:spPr>
            <a:xfrm>
              <a:off x="-991800" y="-148140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9" name="Google Shape;147;p20"/>
          <p:cNvGrpSpPr/>
          <p:nvPr/>
        </p:nvGrpSpPr>
        <p:grpSpPr>
          <a:xfrm>
            <a:off x="-1635480" y="-3094920"/>
            <a:ext cx="13986360" cy="9857520"/>
            <a:chOff x="-1635480" y="-3094920"/>
            <a:chExt cx="13986360" cy="9857520"/>
          </a:xfrm>
        </p:grpSpPr>
        <p:pic>
          <p:nvPicPr>
            <p:cNvPr id="20" name="Google Shape;148;p20"/>
            <p:cNvPicPr/>
            <p:nvPr/>
          </p:nvPicPr>
          <p:blipFill>
            <a:blip r:embed="rId2">
              <a:alphaModFix amt="49000"/>
            </a:blip>
            <a:srcRect l="-2360" t="1001" r="-677" b="-1001"/>
            <a:stretch/>
          </p:blipFill>
          <p:spPr>
            <a:xfrm rot="2434200">
              <a:off x="7697520" y="-2425680"/>
              <a:ext cx="3673080" cy="4371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" name="Google Shape;149;p20"/>
            <p:cNvPicPr/>
            <p:nvPr/>
          </p:nvPicPr>
          <p:blipFill>
            <a:blip r:embed="rId3"/>
            <a:stretch/>
          </p:blipFill>
          <p:spPr>
            <a:xfrm>
              <a:off x="-1635480" y="329796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125800" y="723600"/>
            <a:ext cx="4892040" cy="115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Google Shape;154;p21"/>
          <p:cNvSpPr/>
          <p:nvPr/>
        </p:nvSpPr>
        <p:spPr>
          <a:xfrm>
            <a:off x="2125800" y="3612600"/>
            <a:ext cx="48920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5" name="Google Shape;155;p21"/>
          <p:cNvGrpSpPr/>
          <p:nvPr/>
        </p:nvGrpSpPr>
        <p:grpSpPr>
          <a:xfrm>
            <a:off x="-1667160" y="-1217520"/>
            <a:ext cx="12423240" cy="7054560"/>
            <a:chOff x="-1667160" y="-1217520"/>
            <a:chExt cx="12423240" cy="7054560"/>
          </a:xfrm>
        </p:grpSpPr>
        <p:pic>
          <p:nvPicPr>
            <p:cNvPr id="26" name="Google Shape;156;p21"/>
            <p:cNvPicPr/>
            <p:nvPr/>
          </p:nvPicPr>
          <p:blipFill>
            <a:blip r:embed="rId5"/>
            <a:stretch/>
          </p:blipFill>
          <p:spPr>
            <a:xfrm>
              <a:off x="-1667160" y="-121752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" name="Google Shape;157;p21"/>
            <p:cNvPicPr/>
            <p:nvPr/>
          </p:nvPicPr>
          <p:blipFill>
            <a:blip r:embed="rId6">
              <a:alphaModFix amt="88000"/>
            </a:blip>
            <a:stretch/>
          </p:blipFill>
          <p:spPr>
            <a:xfrm>
              <a:off x="7458480" y="3070440"/>
              <a:ext cx="3297600" cy="2766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" name="Google Shape;158;p21"/>
            <p:cNvPicPr/>
            <p:nvPr/>
          </p:nvPicPr>
          <p:blipFill>
            <a:blip r:embed="rId7">
              <a:alphaModFix amt="67000"/>
            </a:blip>
            <a:srcRect l="5148" r="5141"/>
            <a:stretch/>
          </p:blipFill>
          <p:spPr>
            <a:xfrm>
              <a:off x="6567120" y="2202480"/>
              <a:ext cx="3453480" cy="3359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9" name="Google Shape;159;p21"/>
          <p:cNvSpPr/>
          <p:nvPr/>
        </p:nvSpPr>
        <p:spPr>
          <a:xfrm>
            <a:off x="-1698840" y="474840"/>
            <a:ext cx="2800800" cy="28008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125800" y="723600"/>
            <a:ext cx="4892040" cy="115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Google Shape;154;p21"/>
          <p:cNvSpPr/>
          <p:nvPr/>
        </p:nvSpPr>
        <p:spPr>
          <a:xfrm>
            <a:off x="2125800" y="3612600"/>
            <a:ext cx="48920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Freepik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2" name="Google Shape;155;p21"/>
          <p:cNvGrpSpPr/>
          <p:nvPr/>
        </p:nvGrpSpPr>
        <p:grpSpPr>
          <a:xfrm>
            <a:off x="-1667160" y="-1217520"/>
            <a:ext cx="12423240" cy="7054560"/>
            <a:chOff x="-1667160" y="-1217520"/>
            <a:chExt cx="12423240" cy="7054560"/>
          </a:xfrm>
        </p:grpSpPr>
        <p:pic>
          <p:nvPicPr>
            <p:cNvPr id="33" name="Google Shape;156;p21"/>
            <p:cNvPicPr/>
            <p:nvPr/>
          </p:nvPicPr>
          <p:blipFill>
            <a:blip r:embed="rId5"/>
            <a:stretch/>
          </p:blipFill>
          <p:spPr>
            <a:xfrm>
              <a:off x="-1667160" y="-1217520"/>
              <a:ext cx="4082760" cy="346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157;p21"/>
            <p:cNvPicPr/>
            <p:nvPr/>
          </p:nvPicPr>
          <p:blipFill>
            <a:blip r:embed="rId6">
              <a:alphaModFix amt="88000"/>
            </a:blip>
            <a:stretch/>
          </p:blipFill>
          <p:spPr>
            <a:xfrm>
              <a:off x="7458480" y="3070440"/>
              <a:ext cx="3297600" cy="2766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" name="Google Shape;158;p21"/>
            <p:cNvPicPr/>
            <p:nvPr/>
          </p:nvPicPr>
          <p:blipFill>
            <a:blip r:embed="rId7">
              <a:alphaModFix amt="67000"/>
            </a:blip>
            <a:srcRect l="5148" r="5141"/>
            <a:stretch/>
          </p:blipFill>
          <p:spPr>
            <a:xfrm>
              <a:off x="6567120" y="2202480"/>
              <a:ext cx="3453480" cy="3359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9" name="Google Shape;159;p21"/>
          <p:cNvSpPr/>
          <p:nvPr/>
        </p:nvSpPr>
        <p:spPr>
          <a:xfrm>
            <a:off x="-1698840" y="474840"/>
            <a:ext cx="2800800" cy="28008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125800" y="723600"/>
            <a:ext cx="4892040" cy="11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3"/>
          <a:stretch/>
        </p:blipFill>
        <p:spPr>
          <a:xfrm>
            <a:off x="5623560" y="-2210040"/>
            <a:ext cx="5243400" cy="510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/>
          <p:cNvPicPr/>
          <p:nvPr/>
        </p:nvPicPr>
        <p:blipFill>
          <a:blip r:embed="rId4">
            <a:alphaModFix amt="88000"/>
          </a:blip>
          <a:stretch/>
        </p:blipFill>
        <p:spPr>
          <a:xfrm>
            <a:off x="-686520" y="3439440"/>
            <a:ext cx="3297600" cy="276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1;p2"/>
          <p:cNvPicPr/>
          <p:nvPr/>
        </p:nvPicPr>
        <p:blipFill>
          <a:blip r:embed="rId5">
            <a:alphaModFix amt="67000"/>
          </a:blip>
          <a:srcRect l="5148" r="5141"/>
          <a:stretch/>
        </p:blipFill>
        <p:spPr>
          <a:xfrm>
            <a:off x="-1577880" y="2571840"/>
            <a:ext cx="3453480" cy="335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622160" y="1508760"/>
            <a:ext cx="5899320" cy="166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" name="Google Shape;14;p2"/>
          <p:cNvGrpSpPr/>
          <p:nvPr/>
        </p:nvGrpSpPr>
        <p:grpSpPr>
          <a:xfrm>
            <a:off x="8013240" y="2614320"/>
            <a:ext cx="1635480" cy="1983240"/>
            <a:chOff x="8013240" y="2614320"/>
            <a:chExt cx="1635480" cy="1983240"/>
          </a:xfrm>
        </p:grpSpPr>
        <p:sp>
          <p:nvSpPr>
            <p:cNvPr id="7" name="Google Shape;15;p2"/>
            <p:cNvSpPr/>
            <p:nvPr/>
          </p:nvSpPr>
          <p:spPr>
            <a:xfrm>
              <a:off x="8308800" y="2614320"/>
              <a:ext cx="1339920" cy="13399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" name="Google Shape;16;p2"/>
            <p:cNvCxnSpPr/>
            <p:nvPr/>
          </p:nvCxnSpPr>
          <p:spPr>
            <a:xfrm flipV="1">
              <a:off x="8013240" y="3690000"/>
              <a:ext cx="907920" cy="9079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8" name="Google Shape;42;p6"/>
          <p:cNvPicPr/>
          <p:nvPr/>
        </p:nvPicPr>
        <p:blipFill>
          <a:blip r:embed="rId3">
            <a:alphaModFix amt="49000"/>
          </a:blip>
          <a:srcRect l="-2360" t="1001" r="2360" b="-1001"/>
          <a:stretch/>
        </p:blipFill>
        <p:spPr>
          <a:xfrm>
            <a:off x="-1851120" y="-835200"/>
            <a:ext cx="2593080" cy="31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43;p6"/>
          <p:cNvPicPr/>
          <p:nvPr/>
        </p:nvPicPr>
        <p:blipFill>
          <a:blip r:embed="rId4"/>
          <a:stretch/>
        </p:blipFill>
        <p:spPr>
          <a:xfrm>
            <a:off x="8098200" y="2737800"/>
            <a:ext cx="2438640" cy="3254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" name="Google Shape;44;p6"/>
          <p:cNvCxnSpPr/>
          <p:nvPr/>
        </p:nvCxnSpPr>
        <p:spPr>
          <a:xfrm flipV="1">
            <a:off x="7995960" y="-215640"/>
            <a:ext cx="907920" cy="9075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1619280" y="1504800"/>
            <a:ext cx="5895720" cy="111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/>
          </a:bodyPr>
          <a:lstStyle/>
          <a:p>
            <a:pPr algn="ctr" defTabSz="914400">
              <a:lnSpc>
                <a:spcPct val="80000"/>
              </a:lnSpc>
              <a:tabLst>
                <a:tab pos="0" algn="l"/>
              </a:tabLst>
            </a:pPr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Raleway SemiBold"/>
              </a:rPr>
              <a:t>Growth Functions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200320" y="2590817"/>
            <a:ext cx="475272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GB" sz="1600" dirty="0" smtClean="0"/>
              <a:t>Understanding Algorithm Efficiency Using Big-O Analysis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95736" y="3522171"/>
            <a:ext cx="475272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GB" sz="1600" dirty="0" smtClean="0"/>
              <a:t>Tejaswi Reddy. K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GB" sz="1600" b="0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192371036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224;p31"/>
          <p:cNvGrpSpPr/>
          <p:nvPr/>
        </p:nvGrpSpPr>
        <p:grpSpPr>
          <a:xfrm>
            <a:off x="6610320" y="1622520"/>
            <a:ext cx="1666800" cy="1972800"/>
            <a:chOff x="6610320" y="1622520"/>
            <a:chExt cx="1666800" cy="1972800"/>
          </a:xfrm>
        </p:grpSpPr>
        <p:sp>
          <p:nvSpPr>
            <p:cNvPr id="46" name="Google Shape;225;p31"/>
            <p:cNvSpPr/>
            <p:nvPr/>
          </p:nvSpPr>
          <p:spPr>
            <a:xfrm>
              <a:off x="6937200" y="1622520"/>
              <a:ext cx="1339920" cy="13399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7" name="Google Shape;226;p31"/>
            <p:cNvCxnSpPr/>
            <p:nvPr/>
          </p:nvCxnSpPr>
          <p:spPr>
            <a:xfrm flipV="1">
              <a:off x="6610320" y="2687760"/>
              <a:ext cx="907920" cy="9079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49" name="Rectangle 48"/>
          <p:cNvSpPr/>
          <p:nvPr/>
        </p:nvSpPr>
        <p:spPr>
          <a:xfrm>
            <a:off x="251520" y="195486"/>
            <a:ext cx="6048672" cy="4824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GB" sz="17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Growth functions describe how an algorithm's execution time or memory usage increases as the input size (n) grows.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Big-O notation focuses on the worst-case growth rate of an algorithm.</a:t>
            </a:r>
          </a:p>
          <a:p>
            <a:r>
              <a:rPr lang="en-GB" sz="1700" b="1" dirty="0" smtClean="0">
                <a:latin typeface="Times New Roman" pitchFamily="18" charset="0"/>
                <a:cs typeface="Times New Roman" pitchFamily="18" charset="0"/>
              </a:rPr>
              <a:t>Purpose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Understand algorithm scalability.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Compare efficiency between different algorithms.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Predict performance for large datasets.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Select the most appropriate algorithm for a problem.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Reduce execution time and computing resources. </a:t>
            </a:r>
          </a:p>
          <a:p>
            <a:r>
              <a:rPr lang="en-GB" sz="17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Searching 1 million records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Binary Search → O(log n)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Linear Search → O(n) </a:t>
            </a:r>
          </a:p>
          <a:p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Binary Search finishes dramatically faster.</a:t>
            </a:r>
          </a:p>
          <a:p>
            <a:r>
              <a:rPr lang="en-GB" sz="1700" b="1" dirty="0" smtClean="0">
                <a:latin typeface="Times New Roman" pitchFamily="18" charset="0"/>
                <a:cs typeface="Times New Roman" pitchFamily="18" charset="0"/>
              </a:rPr>
              <a:t>Key Point</a:t>
            </a:r>
          </a:p>
          <a:p>
            <a:r>
              <a:rPr lang="en-GB" sz="1700" dirty="0" smtClean="0">
                <a:latin typeface="Times New Roman" pitchFamily="18" charset="0"/>
                <a:cs typeface="Times New Roman" pitchFamily="18" charset="0"/>
              </a:rPr>
              <a:t>Lower growth rate = Better scalability</a:t>
            </a:r>
            <a:endParaRPr lang="en-GB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image_0:slide_img_IMMebO.jpg"/>
          <p:cNvSpPr/>
          <p:nvPr/>
        </p:nvSpPr>
        <p:spPr>
          <a:xfrm>
            <a:off x="5715000" y="1057320"/>
            <a:ext cx="2485800" cy="3447720"/>
          </a:xfrm>
          <a:prstGeom prst="round2SameRect">
            <a:avLst>
              <a:gd name="adj1" fmla="val 50000"/>
              <a:gd name="adj2" fmla="val 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3528" y="195486"/>
            <a:ext cx="7344816" cy="101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Raleway"/>
              </a:rPr>
              <a:t>Why Compare </a:t>
            </a:r>
            <a:r>
              <a:rPr lang="en-US" sz="4000" b="1" u="none" strike="noStrike" dirty="0" smtClean="0">
                <a:solidFill>
                  <a:srgbClr val="000000"/>
                </a:solidFill>
                <a:effectLst/>
                <a:uFillTx/>
                <a:latin typeface="Raleway"/>
              </a:rPr>
              <a:t>Growth?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536" y="1347614"/>
            <a:ext cx="4896544" cy="37154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rgbClr val="000000"/>
                </a:solidFill>
                <a:effectLst/>
                <a:uFillTx/>
                <a:latin typeface="Open Sans"/>
              </a:rPr>
              <a:t>Comparing growth functions shows how </a:t>
            </a:r>
            <a:r>
              <a:rPr lang="en-US" sz="1600" b="1" u="none" strike="noStrike" dirty="0" smtClean="0">
                <a:solidFill>
                  <a:srgbClr val="000000"/>
                </a:solidFill>
                <a:effectLst/>
                <a:uFillTx/>
                <a:latin typeface="Open Sans"/>
              </a:rPr>
              <a:t>cost scales with input and guides algorithm choice</a:t>
            </a:r>
            <a:r>
              <a:rPr lang="en-US" sz="1600" b="0" u="none" strike="noStrike" dirty="0" smtClean="0">
                <a:solidFill>
                  <a:srgbClr val="000000"/>
                </a:solidFill>
                <a:effectLst/>
                <a:uFillTx/>
                <a:latin typeface="Open Sans"/>
              </a:rPr>
              <a:t>. Big-O gives an upper bound as n grows. For sorting, merge sort is O(n log n) while a naive O(2^n) approach becomes infeasible long before large n; merge sort stays practical up to millions of elements, while the exponential method does not.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756025"/>
              </p:ext>
            </p:extLst>
          </p:nvPr>
        </p:nvGraphicFramePr>
        <p:xfrm>
          <a:off x="457200" y="1525587"/>
          <a:ext cx="8229600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Growth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Example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Performance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Logarithmic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Binary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Excellent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Linear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Good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O(n 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Linearithmic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Merge Sort, Quick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Very Good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Quadratic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Bubble Sort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Poor for large 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O(2ⁿ)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Exponential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Very Poor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6" y="301560"/>
            <a:ext cx="642034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Understanding Different Growth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Common Big-O Growth Functions</a:t>
            </a:r>
          </a:p>
        </p:txBody>
      </p:sp>
    </p:spTree>
    <p:extLst>
      <p:ext uri="{BB962C8B-B14F-4D97-AF65-F5344CB8AC3E}">
        <p14:creationId xmlns:p14="http://schemas.microsoft.com/office/powerpoint/2010/main" val="257945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>
          <a:xfrm>
            <a:off x="179512" y="195486"/>
            <a:ext cx="2511544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00000"/>
                </a:solidFill>
                <a:effectLst/>
                <a:uFillTx/>
                <a:latin typeface="Raleway"/>
              </a:rPr>
              <a:t>Growth </a:t>
            </a:r>
            <a:r>
              <a:rPr lang="en-US" sz="2800" b="1" u="none" strike="noStrike" dirty="0" smtClean="0">
                <a:solidFill>
                  <a:srgbClr val="000000"/>
                </a:solidFill>
                <a:effectLst/>
                <a:uFillTx/>
                <a:latin typeface="Raleway"/>
              </a:rPr>
              <a:t>Order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39552" y="3597292"/>
            <a:ext cx="390492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 Sans"/>
              </a:rPr>
              <a:t>O(log n) grows the slowest. For n=10, log2 n ≈ 3; even for n=10^4 the value remains tiny next to linear or quadratic terms, illustrating the vast gap to higher orders.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860032" y="3582866"/>
            <a:ext cx="390492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 Sans"/>
              </a:rPr>
              <a:t>O(2^n) grows fastest; at n=10 it already dwarfs the others, and at n=10,000 the value is astronomically larger. This extreme gap highlights why exponential classification matters.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76280" y="4615014"/>
            <a:ext cx="8191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 Sans"/>
              </a:rPr>
              <a:t>Exponential growth dominates; small n differences become enormous as n grows.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475656" y="838030"/>
            <a:ext cx="259228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O(log n) (FASTEST)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↓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O(n)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↓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O(n log n)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↓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O(n²)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↓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O(2ⁿ) (SLOWEST)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118" y="987573"/>
            <a:ext cx="361431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Observation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Moving downward means the algorithm becomes slower as input size increases.</a:t>
            </a:r>
            <a:endParaRPr kumimoji="0" lang="en-US" sz="13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Raleway"/>
              </a:rPr>
              <a:t>Growth Crossovers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584226"/>
              </p:ext>
            </p:extLst>
          </p:nvPr>
        </p:nvGraphicFramePr>
        <p:xfrm>
          <a:off x="457200" y="1323181"/>
          <a:ext cx="8229600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O(log</a:t>
                      </a:r>
                      <a:r>
                        <a:rPr lang="en-IN" sz="1200" baseline="-25000" dirty="0" smtClean="0"/>
                        <a:t>2</a:t>
                      </a:r>
                      <a:r>
                        <a:rPr lang="en-IN" b="1" dirty="0" smtClean="0"/>
                        <a:t> </a:t>
                      </a:r>
                      <a:r>
                        <a:rPr lang="en-IN" b="1" dirty="0"/>
                        <a:t>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O(n 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O(2ⁿ)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1,024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664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1.27×10³⁰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9,966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Huge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132,877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100,000,000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Impossible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1,660,964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10,000,000,000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Impossible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1131590"/>
            <a:ext cx="5398528" cy="2737122"/>
          </a:xfrm>
        </p:spPr>
        <p:txBody>
          <a:bodyPr/>
          <a:lstStyle/>
          <a:p>
            <a:r>
              <a:rPr lang="en-GB" sz="7200" dirty="0" smtClean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6715188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t and Loss Statement Consulting by Slidesgo">
  <a:themeElements>
    <a:clrScheme name="Simple Light">
      <a:dk1>
        <a:srgbClr val="000000"/>
      </a:dk1>
      <a:lt1>
        <a:srgbClr val="E9E9E9"/>
      </a:lt1>
      <a:dk2>
        <a:srgbClr val="514DA2"/>
      </a:dk2>
      <a:lt2>
        <a:srgbClr val="C597BE"/>
      </a:lt2>
      <a:accent1>
        <a:srgbClr val="E7BF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fit and Loss Statement Consulting by Slidesgo">
  <a:themeElements>
    <a:clrScheme name="Simple Light">
      <a:dk1>
        <a:srgbClr val="000000"/>
      </a:dk1>
      <a:lt1>
        <a:srgbClr val="E9E9E9"/>
      </a:lt1>
      <a:dk2>
        <a:srgbClr val="514DA2"/>
      </a:dk2>
      <a:lt2>
        <a:srgbClr val="C597BE"/>
      </a:lt2>
      <a:accent1>
        <a:srgbClr val="E7BF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ofit and Loss Statement Consulting by Slidesgo">
  <a:themeElements>
    <a:clrScheme name="Simple Light">
      <a:dk1>
        <a:srgbClr val="000000"/>
      </a:dk1>
      <a:lt1>
        <a:srgbClr val="E9E9E9"/>
      </a:lt1>
      <a:dk2>
        <a:srgbClr val="514DA2"/>
      </a:dk2>
      <a:lt2>
        <a:srgbClr val="C597BE"/>
      </a:lt2>
      <a:accent1>
        <a:srgbClr val="E7BF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400</Words>
  <Application>Microsoft Office PowerPoint</Application>
  <PresentationFormat>On-screen Show (16:9)</PresentationFormat>
  <Paragraphs>101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Profit and Loss Statement Consulting by Slidesgo</vt:lpstr>
      <vt:lpstr>Profit and Loss Statement Consulting by Slidesgo</vt:lpstr>
      <vt:lpstr>Profit and Loss Statement Consulting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TEJU</cp:lastModifiedBy>
  <cp:revision>6</cp:revision>
  <dcterms:modified xsi:type="dcterms:W3CDTF">2026-07-21T09:12:13Z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2026-07-21T07:39:42Z</dcterms:created>
  <dc:creator>Slidesgo AI</dc:creator>
  <dc:description/>
  <dc:language>en-US</dc:language>
  <cp:lastModifiedBy>Unknown Creator</cp:lastModifiedBy>
  <dcterms:modified xsi:type="dcterms:W3CDTF">2026-07-21T07:39:42Z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15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a24f689f-ec5a-49de-b614-dce38eb06edb</vt:lpwstr>
  </property>
</Properties>
</file>